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layfair Displ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regular.fntdata"/><Relationship Id="rId25" Type="http://schemas.openxmlformats.org/officeDocument/2006/relationships/slide" Target="slides/slide20.xml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937c0f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937c0f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65ead82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65ead82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965ead82a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965ead82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65ead82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65ead82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65ead82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965ead82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a40663d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a40663d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Next take a look at models trained for our classifier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Total of 7 models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Accuracy is our most important metric when training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Since we have a classification problem we decided to use thresholds to improve accuracy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we created a threshold tuning function that chose the best threshold based on a validation split of the original training data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So, to begin…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965ead82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965ead82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Our naive baseline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Chalk model always predicts the lower seed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lower seed you are in a bracket, the “stronger” your team is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Predicted at about 70% accuracy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naive rule is </a:t>
            </a:r>
            <a:r>
              <a:rPr lang="en"/>
              <a:t>surprisingly</a:t>
            </a:r>
            <a:r>
              <a:rPr lang="en"/>
              <a:t> stronger than a 50/50 split rule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Shows seeds already capture a large amount of data when it comes to whether a team will win or not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65ead82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965ead82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Chris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Next trained three linear models: Base Logistic Regression, Ridge Regression, and Lasso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All scalled using standard scaler before training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Unregularized logistic regression performed the greatest at 71% but still only 2% above our baseline chalk model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65ead82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965ead82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Chris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Moving on to our tree models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Trained a gradient boosting model that performed at about 69% accuracy and a random forest model that performed at around the same accuracy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Both lower than our baseline models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parameters of these models were tuned using grid search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65ead82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965ead82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Chris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Lastly our ensemble model, which used a soft voting system with Gradient Boosting and Random Forests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Soft voting allows us to keep how confident we are in a prediction, as well as preventing ties between our two estimators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Unfortunatley the model only outperforms our baseline by about half a percent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65ead82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965ead82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Chris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In the end the most accurate model we trained was a logistic regression model w/ no regularization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Logistic regression is a relatively simple model, suggesting that the relationships in our data are largely linear with respect to the engineered features.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more complex models may be overfitting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be6d58e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7be6d58e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One key insight from our analysis is that net rating difference is a strong predictor of game outcomes.</a:t>
            </a:r>
            <a:endParaRPr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On this chart, the x-axis shows the difference in net rating between two teams, and the y-axis shows the probability that Team 1 wins.</a:t>
            </a:r>
            <a:endParaRPr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As we can see, there is a clear upward trend — as the net rating gap increases, the probability of winning also increases.</a:t>
            </a:r>
            <a:endParaRPr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This suggests that net rating is a reliable measure of team strength.</a:t>
            </a:r>
            <a:endParaRPr sz="1000">
              <a:solidFill>
                <a:schemeClr val="dk1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However, when the difference is close to zero, outcomes become much less predictable, which helps explain why evenly matched games often result in upsets.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be6d58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7be6d58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965ead82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965ead82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65ead82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965ead82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65ead82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65ead82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65ead82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965ead82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965ead82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965ead82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Next, here are some highlights from our model performance.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 the left, we show an example of a simulated bracket from 2009. The model achieved about 70% accuracy overall, which is consistent with our earlier results.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However, even with relatively high accuracy, the total score is still far from the maximum, because mistakes in later rounds are much more costly.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comparing different models on the 2025 bracket, logistic regression achieved the highest total score, while ensemble and random forest also performed competitively.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Overall, most models performed within a relatively narrow range, which again suggests that the problem is inherently difficult.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 the best-performing models only improve moderately over the chalk baseline, reinforcing that much of the signal is already captured by simple features like seeding.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965ead82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965ead82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conclude, there are several ways we could further improve the model.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First, incorporating regular season data earlier in the pipeline could help capture team strength more accurately before the tournament begins.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Second, using more advanced metrics such as KenPom or BPI could provide better representations of team quality.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Finally, instead of making single deterministic predictions, we could use Monte Carlo simulations to model uncertainty and generate more robust bracket outcomes.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Overall, our results show that while machine learning can improve predictions, the gains are limited by data quality and the inherent randomness of the tournament.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March Madness Bracket Predictor</a:t>
            </a:r>
            <a:endParaRPr sz="24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Team 4: Andrew, Brandon, Christian, Rui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1. Describe the problem and why a solution is potentially useful.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2. Describe the data – source, contents, cleaning, feature engineering, etc.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3. Present some interesting descriptive analyses (plots/tables).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4. Discuss the predictive methods you used. Why did you choose these, how did you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tune the parameters? Which model was most accurate? Why?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5. Tell us about obstacles. What was the biggest challenge you faced and how you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overcame it (or not, not every problem has a solution).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6. Conclude. What did you learn that can be put to practice?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Predicting outcomes in the NCAA March Madness tournament is extremely difficult due to high variability and frequent upsets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Traditional bracket selection relies heavily on intuition, bias, and limited statistics, leading to poor accuracy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Even strong teams aren’t completely safe due to factors like matchup dynamics, seeding discrepancies, and variance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creates a clear opportunity for a data-driven approach that leverages historical team performance and advanced metrics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“Can machine learning outperform a baseline model in predicting tournament outcomes?” 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Our objective:</a:t>
            </a:r>
            <a:br>
              <a:rPr b="1"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Build a machine learning model that predicts game outcomes to improve bracket accuracy beyond a chalk model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MRegularSeasonDetailedResults.csv</a:t>
            </a:r>
            <a:endParaRPr b="1"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Full box score data for every regular season game since 2003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Source of team-quality features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Derived 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MNCAATourneyCompactResults.csv</a:t>
            </a:r>
            <a:endParaRPr b="1"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Winners and losers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MNCAATourneySeeds.csv</a:t>
            </a:r>
            <a:endParaRPr b="1"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Seed assigned to each team 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MNCAATourneySlots.csv</a:t>
            </a:r>
            <a:endParaRPr b="1"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Help build the bracket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Joined with </a:t>
            </a: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MNCAATourneySeeds.csv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 find matchups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MTeams.csv</a:t>
            </a:r>
            <a:endParaRPr b="1"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Maps TeamID to team name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122775 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regular season games, </a:t>
            </a: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2585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tourney games → </a:t>
            </a: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117447 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regular season games, </a:t>
            </a:r>
            <a:r>
              <a:rPr b="1"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1449</a:t>
            </a: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tourney games after cleaning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017450"/>
            <a:ext cx="8520600" cy="4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Base Data Construction: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Each row initially represents a team’s performance in a single game  (winner and loser perspectives combined)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Split each row into each team’s perspective so every team has a record of their stat’s and their opponent’s stats (</a:t>
            </a: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234,894</a:t>
            </a: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rows)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Feature Engineering:</a:t>
            </a:r>
            <a:b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Created advanced team metrics including:</a:t>
            </a:r>
            <a:endParaRPr b="1"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Shooting efficiency (FG%, TS%, eFG%)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Ratings (OffRtg, DefRtg, NetRtg)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Possession-based stats and turnover rates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Rolling performance (Last 5 / Last 10 games), </a:t>
            </a: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Strength</a:t>
            </a: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of schedule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Aggregation:</a:t>
            </a:r>
            <a:b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Transformed game-level data into team-season features → Each row = one team in one season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Input Structure:</a:t>
            </a:r>
            <a:b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For each matchup, we combine two teams’ features into one row → Model learns relative team strength to predict outcomes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Bracket Building:</a:t>
            </a:r>
            <a:endParaRPr b="1"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Join Seeds and Slots on TeamID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layfair Display"/>
              <a:buChar char="○"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ESPN bracket challenge scoring (x/1920)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●"/>
            </a:pPr>
            <a:r>
              <a:rPr b="1"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 Variable (y):</a:t>
            </a:r>
            <a:b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Binary outcome at game level → 1 = team wins, 0 = team loses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Metrics/Features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feature_cols = [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'SeedDiff'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'DIFF_WinPct'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'DIFF_AvgMargin'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'DIFF_eFG_pct'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'DIFF_TS_pct'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'DIFF_OffRtg'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'DIFF_DefRtg'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'DIFF_NetRtg'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'DIFF_TO_rate'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'DIFF_Ast_TO'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'DIFF_ORR'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'DIFF_DRR'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'DIFF_FT_rate'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'DIFF_FG3A_rate'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'DIFF_Last10_WinPct'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'DIFF_Last10_Margin'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'DIFF_NeutralWinPct'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'T1_Off_vs_T2_Def'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'T2_Off_vs_T1_Def'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'NetMatchupEdge'</a:t>
            </a: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,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  </a:t>
            </a:r>
            <a:r>
              <a:rPr lang="en" sz="2300">
                <a:solidFill>
                  <a:srgbClr val="A31515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'DIFF_SoS'</a:t>
            </a:r>
            <a:endParaRPr sz="2300">
              <a:solidFill>
                <a:srgbClr val="A31515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highlight>
                  <a:srgbClr val="FFFFFF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]</a:t>
            </a:r>
            <a:endParaRPr sz="2300">
              <a:solidFill>
                <a:srgbClr val="000000"/>
              </a:solidFill>
              <a:highlight>
                <a:srgbClr val="FFFFFF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05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21 total</a:t>
            </a:r>
            <a:endParaRPr sz="305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509550" y="1672650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/>
              <a:t>MODELS</a:t>
            </a:r>
            <a:endParaRPr b="1" sz="1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Chalk Model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082350"/>
            <a:ext cx="8520600" cy="38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ayfair Display"/>
              <a:buChar char="-"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Naive baseline</a:t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ayfair Display"/>
              <a:buChar char="-"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Always picks the lower seed</a:t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ayfair Display"/>
              <a:buChar char="-"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69.6%</a:t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ayfair Display"/>
              <a:buChar char="-"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279/401 on test set</a:t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ayfair Display"/>
              <a:buChar char="-"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~0.70										</a:t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							</a:t>
            </a:r>
            <a:endParaRPr sz="14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8050" y="481050"/>
            <a:ext cx="336385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50" y="2709450"/>
            <a:ext cx="2899075" cy="222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3743325" y="3777100"/>
            <a:ext cx="52215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latin typeface="Playfair Display"/>
                <a:ea typeface="Playfair Display"/>
                <a:cs typeface="Playfair Display"/>
                <a:sym typeface="Playfair Display"/>
              </a:rPr>
              <a:t>Key Insight:</a:t>
            </a:r>
            <a:endParaRPr b="1" i="1"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Playfair Display"/>
              <a:buChar char="●"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Even this naive rule achieves surprisingly strong performance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Char char="●"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Indicates that seeding already captures a large portion of predictive signal</a:t>
            </a:r>
            <a:endParaRPr sz="1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Models w/ 5-Fold Cross</a:t>
            </a:r>
            <a:r>
              <a:rPr lang="en"/>
              <a:t>-Validation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Unregularized Logistic Regression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</a:t>
            </a:r>
            <a:r>
              <a:rPr lang="en" sz="1000">
                <a:solidFill>
                  <a:srgbClr val="3876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71.1%</a:t>
            </a:r>
            <a:endParaRPr sz="1000">
              <a:solidFill>
                <a:srgbClr val="38761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.756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.584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Ridge Regression w/ CV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68.6%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.761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</a:t>
            </a:r>
            <a:r>
              <a:rPr lang="en" sz="1000">
                <a:solidFill>
                  <a:srgbClr val="3876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.571</a:t>
            </a:r>
            <a:endParaRPr sz="1000">
              <a:solidFill>
                <a:srgbClr val="38761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Lasso Regression w/ CV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70.0%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</a:t>
            </a:r>
            <a:r>
              <a:rPr lang="en" sz="1000">
                <a:solidFill>
                  <a:srgbClr val="38761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.762</a:t>
            </a:r>
            <a:endParaRPr sz="1000">
              <a:solidFill>
                <a:srgbClr val="38761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.580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8025" y="1540506"/>
            <a:ext cx="2030725" cy="20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712" y="1540509"/>
            <a:ext cx="2030725" cy="2062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5375" y="1551762"/>
            <a:ext cx="2008576" cy="20399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Models w/ Grid Search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Gradient Boosting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69.1%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.574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.755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Best params: estimators: 100, learning rate: .05, max depth: 2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Random Forest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68.8%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.584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.751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○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Best params: estimators: 300, max depth: 4, min samples leaf: 2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Both models picked conservative configurations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9732" y="1152475"/>
            <a:ext cx="2382122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2392" y="1282650"/>
            <a:ext cx="2222308" cy="22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(GB + RF)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349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●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Soft voting system that averaged the predicted win probabilities from GB and RF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○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Preserves confidence information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○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Prevents ties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●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Accuracy: 69.8%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●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AUC: .579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layfair Display"/>
              <a:buChar char="●"/>
            </a:pPr>
            <a:r>
              <a:rPr lang="en" sz="12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 loss: .754</a:t>
            </a:r>
            <a:endParaRPr sz="12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4525" y="1744875"/>
            <a:ext cx="2197250" cy="223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3419" y="1684400"/>
            <a:ext cx="2735175" cy="2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&amp; Final Selection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265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Takeaways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Logistic Regression achieved the highest accuracy (71.1%), outperforming all other models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More complex models (GB, RF, Ensemble) did not significantly improve performance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Regularization (Ridge/Lasso) slightly improved stability but reduced accuracy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Overall performance gains over the baseline (69.6%) are modest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80/20 train/test split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Only trained on regular season stats from pre-tourney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0373" y="1152475"/>
            <a:ext cx="5861924" cy="225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Insight: Net Rating Difference is a Strong Predictor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200" y="1203900"/>
            <a:ext cx="4515026" cy="273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 txBox="1"/>
          <p:nvPr/>
        </p:nvSpPr>
        <p:spPr>
          <a:xfrm>
            <a:off x="417900" y="1486800"/>
            <a:ext cx="4629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This chart illustrates the relationship between net rating difference and win probability.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X-axis:</a:t>
            </a:r>
            <a:b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 Net Rating Difference = Team 1 Net Rating – Team 2 Net Rating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○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Positive → Team 1 is stronger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○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Negative → Team 1 is weaker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Y-axis:</a:t>
            </a:r>
            <a:b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 Probability that Team 1 wins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●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The dashed line at 0.5 represents a baseline (even matchup)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136650" y="3238500"/>
            <a:ext cx="4629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latin typeface="Playfair Display"/>
                <a:ea typeface="Playfair Display"/>
                <a:cs typeface="Playfair Display"/>
                <a:sym typeface="Playfair Display"/>
              </a:rPr>
              <a:t>Key Insights</a:t>
            </a:r>
            <a:endParaRPr b="1"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Win probability increases as the difference in net rating grows, showing that stronger teams are more likely to win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The relationship is steady and consistent, suggesting net rating is a reliable measure of team strength rather than random variation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When the difference is close to zero, outcomes are much less predictable, which explains why evenly matched games often result in upsets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As </a:t>
            </a: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the gap between teams becomes larger, outcomes become more predictable, allowing the model to make more confident predictions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Upsets Introduce Uncertainty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175" y="1017450"/>
            <a:ext cx="4198176" cy="365796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199175" y="1117100"/>
            <a:ext cx="4629300" cy="29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“Expected Winner” = better team (by seed) wins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“Upset” = worse team wins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Most games follow expected outcomes based on team strength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A meaningful share of games still result in upsets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These unpredictable outcomes limit the accuracy of simple rules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Char char="●"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Highlights the need for a model that can handle uncertainty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80"/>
              <a:t>Key Insights: Seed Advantage and Win Probability</a:t>
            </a:r>
            <a:endParaRPr sz="2780"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2350" y="1181400"/>
            <a:ext cx="4500525" cy="27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281275" y="1181400"/>
            <a:ext cx="42906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This chart illustrates the relationship between seed advantage and win probability.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b="1" lang="en" sz="900">
                <a:latin typeface="Playfair Display"/>
                <a:ea typeface="Playfair Display"/>
                <a:cs typeface="Playfair Display"/>
                <a:sym typeface="Playfair Display"/>
              </a:rPr>
              <a:t>X-axis:</a:t>
            </a: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 Seed Advantage (Team 2 Seed – Team 1 Seed)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○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Positive values mean Team 1 has the better seed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○"/>
            </a:pP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Negative values mean Team 1 is the underdog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b="1" lang="en" sz="900">
                <a:latin typeface="Playfair Display"/>
                <a:ea typeface="Playfair Display"/>
                <a:cs typeface="Playfair Display"/>
                <a:sym typeface="Playfair Display"/>
              </a:rPr>
              <a:t>Y-axis: </a:t>
            </a: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Probability that Team 1 wins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Playfair Display"/>
              <a:buChar char="●"/>
            </a:pPr>
            <a:r>
              <a:rPr b="1" lang="en" sz="900">
                <a:latin typeface="Playfair Display"/>
                <a:ea typeface="Playfair Display"/>
                <a:cs typeface="Playfair Display"/>
                <a:sym typeface="Playfair Display"/>
              </a:rPr>
              <a:t>The dashed line at 0.5</a:t>
            </a:r>
            <a:r>
              <a:rPr lang="en" sz="900">
                <a:latin typeface="Playfair Display"/>
                <a:ea typeface="Playfair Display"/>
                <a:cs typeface="Playfair Display"/>
                <a:sym typeface="Playfair Display"/>
              </a:rPr>
              <a:t> represents a baseline where the game is essentially a coin flip</a:t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281275" y="3005450"/>
            <a:ext cx="4290600" cy="15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latin typeface="Playfair Display"/>
                <a:ea typeface="Playfair Display"/>
                <a:cs typeface="Playfair Display"/>
                <a:sym typeface="Playfair Display"/>
              </a:rPr>
              <a:t>Key Insights</a:t>
            </a:r>
            <a:endParaRPr b="1"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There is a clear positive relationship between seed advantage and win probability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Teams with better seeds are more likely to win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When seed advantage is close to zero, win probability is near 50 percent.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There is noticeable variability across values.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Even with a seed advantage, outcomes are not guaranteed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Extreme seed differences lead to very high or very low win probabilities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layfair Display"/>
                <a:ea typeface="Playfair Display"/>
                <a:cs typeface="Playfair Display"/>
                <a:sym typeface="Playfair Display"/>
              </a:rPr>
              <a:t>Strong favorites usually win, but not always</a:t>
            </a:r>
            <a:endParaRPr sz="8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53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9450"/>
            <a:ext cx="8839204" cy="317658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152400" y="3952500"/>
            <a:ext cx="7002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Char char="●"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SeedDiff dominates in most models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Char char="●"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SoS showed up in most models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Char char="●"/>
            </a:pPr>
            <a:r>
              <a:rPr lang="en" sz="1000">
                <a:latin typeface="Playfair Display"/>
                <a:ea typeface="Playfair Display"/>
                <a:cs typeface="Playfair Display"/>
                <a:sym typeface="Playfair Display"/>
              </a:rPr>
              <a:t>GB barely uses other features - like a chalk model</a:t>
            </a:r>
            <a:endParaRPr sz="10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endParaRPr/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 response to GB being a glorified chalk model…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Collapses into SeedDiff, ignored other features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Tourney data and regular season averages not large enough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Seeding encompasses a lot of features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fix this… 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Ran an alternate pipeline without SeedDiff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3/6 models performed better, including GB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layfair Display"/>
              <a:buChar char="●"/>
            </a:pPr>
            <a:r>
              <a:rPr lang="en" sz="10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Results iffy overall; need larger sample size</a:t>
            </a:r>
            <a:endParaRPr sz="10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73" name="Google Shape;1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725" y="1017450"/>
            <a:ext cx="3839575" cy="32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Obstacles</a:t>
            </a:r>
            <a:endParaRPr/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Obstacle: Limited Access to Current Season Data</a:t>
            </a:r>
            <a:endParaRPr b="1" sz="1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Current season statistics were unavailable at the time of analysis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Most publicly available datasets only included historical seasons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This limited our ability to: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"/>
              <a:buChar char="○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Evaluate model performance on the most recent tournament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fair Display"/>
              <a:buChar char="○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Capture real-time team form and late-season changes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As a result, the model was trained and tested primarily on past seasons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Our Solution:</a:t>
            </a:r>
            <a:endParaRPr b="1"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Focused on building a model using historical trends and patterns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Designed features (net rating, recent performance) to approximate team strength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Evaluated performance using out-of-sample historical data</a:t>
            </a:r>
            <a:endParaRPr sz="11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Highlights</a:t>
            </a:r>
            <a:endParaRPr/>
          </a:p>
        </p:txBody>
      </p:sp>
      <p:sp>
        <p:nvSpPr>
          <p:cNvPr id="185" name="Google Shape;185;p31"/>
          <p:cNvSpPr txBox="1"/>
          <p:nvPr>
            <p:ph idx="1" type="body"/>
          </p:nvPr>
        </p:nvSpPr>
        <p:spPr>
          <a:xfrm>
            <a:off x="311700" y="3124325"/>
            <a:ext cx="1086000" cy="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Best performance</a:t>
            </a:r>
            <a:endParaRPr sz="9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1963" y="63551"/>
            <a:ext cx="4116463" cy="22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457"/>
            <a:ext cx="2581400" cy="210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3100" y="2629875"/>
            <a:ext cx="5254201" cy="22700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31"/>
          <p:cNvCxnSpPr>
            <a:stCxn id="187" idx="2"/>
            <a:endCxn id="188" idx="1"/>
          </p:cNvCxnSpPr>
          <p:nvPr/>
        </p:nvCxnSpPr>
        <p:spPr>
          <a:xfrm flipH="1" rot="-5400000">
            <a:off x="1927450" y="2799282"/>
            <a:ext cx="640500" cy="1290600"/>
          </a:xfrm>
          <a:prstGeom prst="bentConnector2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311700" y="1168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layfair Display"/>
              <a:buChar char="●"/>
            </a:pPr>
            <a:r>
              <a:rPr lang="en" sz="27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regular season data earlier in the process</a:t>
            </a:r>
            <a:endParaRPr sz="27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layfair Display"/>
              <a:buChar char="●"/>
            </a:pPr>
            <a:r>
              <a:rPr lang="en" sz="27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Use better metrics such as KenPom, BPI, </a:t>
            </a:r>
            <a:endParaRPr sz="27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000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Playfair Display"/>
              <a:buChar char="●"/>
            </a:pPr>
            <a:r>
              <a:rPr lang="en" sz="27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Monte Carlo simulation</a:t>
            </a:r>
            <a:endParaRPr sz="27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